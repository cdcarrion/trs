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entender qué tienen en buró los clientes de Perfil Alto que, aun así, tienen clasificación AAA, AA 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los tres grupos tienen score alto, no tienen deuda vencida y su mora en el sistema financiero es corta. Lo que los ordena es cuánta relación tienen con el sistema financiero, cuánto de su deuda está en tarjeta y si tienen deuda y mora en Sicom.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Medias: scoreBuro 974 / 935 / 889; scoreSobreendeudamiento 681 / 610 / 527; numInstDeudaSF 3.6 / 2.9 / 2.8; numOpeDeudaSF 6.1 / 4.7 / 4.3. La última fila compara la mediana de avgSaldoSFU3M con la de avgSaldoSFU12M: AAA 118,539 vs 107,705; AA 96,675 vs 82,884; A 64,902 vs 64,763. El AAA también tiene el doble de clientes con hipotecario (33% vs 16%).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numTdcBuro, numTdcBuroNoBP, porcCupoUtilizadoTdcBuro y avgPorcDeudaEnTdcBuroU3M a U12M. En mediana, el % de deuda en TDC es AAA 5–7%, AA 15–16%, A 13–15%: la media del A la elevan clientes muy concentrados en tarjeta.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maxMoraSFU3M a U12M, maxMoraSicomU3M a U12M, montoOriginalSicom y avgSaldoSicomU12M. Filas resaltadas: Sicom. Medianas de mora SF: 0 días a 3 y 6 meses; a 12 meses 2 / 0 / 3 días. Mora Sicom 6 y 9 meses en el A: 29 y 49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que no estaban en la lista inicial de variables. 1) La mora Sicom del A está concentrada en pocos clientes. 2) El AA tiene el mayor uso de tarjeta y es el grupo cuyo saldo SF más crece. 3) Las medias están infladas por clientes grandes, por eso conviene presentar medianas. 4) El tamaño del grupo AAA limita las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mayoría de estos clientes vienen de tipoModelo = PERFIL CRM o ya tenían Perfil Alto el mes anterior, el perfil lo explica una regla interna o el arrastre del periodo, no el buró.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01241"/>
            <a:ext cx="10566400" cy="374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01241"/>
            <a:ext cx="10566400" cy="374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RIESGO DE CRÉDITO · PERFILES DE RIESGO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4569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6F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Perfil Alto con buena clasificación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149090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caracteriza en buró a los clientes AAA, AA y 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831840"/>
            <a:ext cx="68355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Análisis exploratorio · Clientes PERFIL ALTO · AAA [n] · AA [n] · A [n] · Corte 202608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34888" y="5831840"/>
            <a:ext cx="1144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7F6F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Tienen buen buró. Lo que separa al AAA del A es la profundidad en el sistema, el peso de la tarjeta y la mora comercial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4734702"/>
            <a:ext cx="2489200" cy="0"/>
          </a:xfrm>
          <a:prstGeom prst="line">
            <a:avLst/>
          </a:prstGeom>
          <a:noFill/>
          <a:ln w="12700">
            <a:solidFill>
              <a:srgbClr val="3C4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892040"/>
            <a:ext cx="25638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971 → 894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541528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de scoreBuro, AAA →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5200" y="4734702"/>
            <a:ext cx="2489200" cy="0"/>
          </a:xfrm>
          <a:prstGeom prst="line">
            <a:avLst/>
          </a:prstGeom>
          <a:noFill/>
          <a:ln w="12700">
            <a:solidFill>
              <a:srgbClr val="3C4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5200" y="4892040"/>
            <a:ext cx="25638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vs 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05200" y="5415280"/>
            <a:ext cx="25638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Instituciones con deuda en el SF (mediana), AAA vs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7600" y="4734702"/>
            <a:ext cx="2489200" cy="0"/>
          </a:xfrm>
          <a:prstGeom prst="line">
            <a:avLst/>
          </a:prstGeom>
          <a:noFill/>
          <a:ln w="12700">
            <a:solidFill>
              <a:srgbClr val="3C4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7600" y="4892040"/>
            <a:ext cx="25638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 vs 30%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97600" y="5415280"/>
            <a:ext cx="25638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Peso de la tarjeta en la deuda (media 3M), AAA vs 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90000" y="4734702"/>
            <a:ext cx="2489200" cy="0"/>
          </a:xfrm>
          <a:prstGeom prst="line">
            <a:avLst/>
          </a:prstGeom>
          <a:noFill/>
          <a:ln w="12700">
            <a:solidFill>
              <a:srgbClr val="3C4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0000" y="4892040"/>
            <a:ext cx="25638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vs 76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890000" y="5415280"/>
            <a:ext cx="25638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Días de mora máx. Sicom en 12 meses (media), AAA vs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3269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Alto · AAA / AA / A · Corte 202608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36925" y="6238241"/>
            <a:ext cx="1422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E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Y SISTEMA FINANCIERO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AAA tiene más relación con el sistema y menos sobreendeudamiento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312530"/>
          <a:ext cx="7100711" cy="2692682"/>
        </p:xfrm>
        <a:graphic>
          <a:graphicData uri="http://schemas.openxmlformats.org/drawingml/2006/table">
            <a:tbl>
              <a:tblPr/>
              <a:tblGrid>
                <a:gridCol w="3905391"/>
                <a:gridCol w="1065107"/>
                <a:gridCol w="1065107"/>
                <a:gridCol w="1065107"/>
              </a:tblGrid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 (mediana)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scoreBuro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971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894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scoreSobreendeudamiento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724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622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532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Instituciones con deuda SF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Operaciones con deuda SF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 original SF (USD)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230,400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150,000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111,333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Saldo SF, 3 meses vs. 12 meses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32775" y="2304416"/>
            <a:ext cx="3143250" cy="2507121"/>
          </a:xfrm>
          <a:prstGeom prst="roundRect">
            <a:avLst>
              <a:gd name="adj" fmla="val 3926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88116" y="2559755"/>
            <a:ext cx="27115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88116" y="2930596"/>
            <a:ext cx="27115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AAA a A el score baja 77 puntos; el sobreendeudamiento baja 192.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88116" y="3514796"/>
            <a:ext cx="27115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mejor calificación, más instituciones, operaciones y montos.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88116" y="4098996"/>
            <a:ext cx="27115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AA es el que más está aumentando su deuda (+17%).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1"/>
            <a:ext cx="3269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Alto · AAA / AA / A · Corte 202608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36925" y="6238241"/>
            <a:ext cx="1422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E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TARJETAS DE CRÉDITO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AAA tiene más tarjetas, pero su deuda depende menos de ellas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312530"/>
          <a:ext cx="7100711" cy="2692682"/>
        </p:xfrm>
        <a:graphic>
          <a:graphicData uri="http://schemas.openxmlformats.org/drawingml/2006/table">
            <a:tbl>
              <a:tblPr/>
              <a:tblGrid>
                <a:gridCol w="3905391"/>
                <a:gridCol w="1065107"/>
                <a:gridCol w="1065107"/>
                <a:gridCol w="1065107"/>
              </a:tblGrid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N.º TDC en buró (mediana)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N.º TDC fuera de BP (media)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cupo utilizado (mediana)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62%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Saldo TDC (mediana, USD)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7.3k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14.7k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8.4k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deuda en TDC, 3 meses (media)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deuda en TDC, 12 meses (media)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32775" y="2304416"/>
            <a:ext cx="3143250" cy="2151521"/>
          </a:xfrm>
          <a:prstGeom prst="roundRect">
            <a:avLst>
              <a:gd name="adj" fmla="val 4575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88116" y="2559755"/>
            <a:ext cx="27115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88116" y="2930596"/>
            <a:ext cx="27115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tres grupos usan más del 40% del cupo; el AA es el que más lo usa.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88116" y="3514796"/>
            <a:ext cx="27115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menor calificación, más pesa la tarjeta en la deuda total, y el peso es estable de 3 a 12 meses.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6238239"/>
            <a:ext cx="3269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Alto · AAA / AA / A · Corte 202608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36925" y="6238239"/>
            <a:ext cx="1422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E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MORA Y DEUDA COMERCIAL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La mora en el SF es corta en todos; la de Sicom marca al 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312528"/>
          <a:ext cx="7100711" cy="2692682"/>
        </p:xfrm>
        <a:graphic>
          <a:graphicData uri="http://schemas.openxmlformats.org/drawingml/2006/table">
            <a:tbl>
              <a:tblPr/>
              <a:tblGrid>
                <a:gridCol w="3905391"/>
                <a:gridCol w="1065107"/>
                <a:gridCol w="1065107"/>
                <a:gridCol w="1065107"/>
              </a:tblGrid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 (media)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Mora máx. SF, 3 meses (días)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Mora máx. SF, 12 meses (días)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Mora máx. Sicom, 3 meses (días)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Mora máx. Sicom, 12 meses (días)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 original Sicom (USD)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546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5,639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8,625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8466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Saldo prom. Sicom, 12 meses (USD)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3,356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5,332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32775" y="2304414"/>
            <a:ext cx="3143250" cy="2964321"/>
          </a:xfrm>
          <a:prstGeom prst="roundRect">
            <a:avLst>
              <a:gd name="adj" fmla="val 3320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88116" y="2559757"/>
            <a:ext cx="27115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88116" y="2930596"/>
            <a:ext cx="27115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SF: menos de 10 días en promedio, sin deuda vencida. No ordena: el AA tiene la menor mora.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88116" y="3743396"/>
            <a:ext cx="271154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Sicom: el AAA tiene 0 días; en el A la mora crece de 14 a 76 días y el monto es 16 veces el del AAA.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88116" y="4556196"/>
            <a:ext cx="271154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0 en Sicom: se concentra en pocos clientes.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39"/>
            <a:ext cx="3269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Alto · AAA / AA / A · Corte 202608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36925" y="6238239"/>
            <a:ext cx="1422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E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ANÁLISIS ADICIONAL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Cuatro puntos a revisar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5175250" cy="1287921"/>
          </a:xfrm>
          <a:prstGeom prst="roundRect">
            <a:avLst>
              <a:gd name="adj" fmla="val 5670"/>
            </a:avLst>
          </a:prstGeom>
          <a:solidFill>
            <a:srgbClr val="FDFDFB"/>
          </a:solidFill>
          <a:ln w="6350">
            <a:solidFill>
              <a:srgbClr val="D3D9E1"/>
            </a:solidFill>
            <a:prstDash val="solid"/>
          </a:ln>
        </p:spPr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316" y="2112718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8516" y="2112718"/>
            <a:ext cx="43335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 de mora Sicom en el 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28516" y="2432757"/>
            <a:ext cx="433359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 de 76 días a 12 meses con mediana 0. Aislar los clientes A con maxMoraSicomU12M mayor a 30 días.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857375"/>
            <a:ext cx="5175250" cy="1287921"/>
          </a:xfrm>
          <a:prstGeom prst="roundRect">
            <a:avLst>
              <a:gd name="adj" fmla="val 5670"/>
            </a:avLst>
          </a:prstGeom>
          <a:solidFill>
            <a:srgbClr val="FDFDFB"/>
          </a:solidFill>
          <a:ln w="6350">
            <a:solidFill>
              <a:srgbClr val="D3D9E1"/>
            </a:solidFill>
            <a:prstDash val="solid"/>
          </a:ln>
        </p:spPr>
      </p:sp>
      <p:pic>
        <p:nvPicPr>
          <p:cNvPr id="9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6116" y="2112718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13316" y="2112718"/>
            <a:ext cx="43335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AA rompe el orden en tarjetas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13316" y="2432757"/>
            <a:ext cx="433359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Mayor uso de cupo (62%), mayor saldo de tarjeta ($14.7k) y saldo SF creciendo +17%.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354846"/>
            <a:ext cx="5175250" cy="1287921"/>
          </a:xfrm>
          <a:prstGeom prst="roundRect">
            <a:avLst>
              <a:gd name="adj" fmla="val 5670"/>
            </a:avLst>
          </a:prstGeom>
          <a:solidFill>
            <a:srgbClr val="FDFDFB"/>
          </a:solidFill>
          <a:ln w="6350">
            <a:solidFill>
              <a:srgbClr val="D3D9E1"/>
            </a:solidFill>
            <a:prstDash val="solid"/>
          </a:ln>
        </p:spPr>
      </p:sp>
      <p:pic>
        <p:nvPicPr>
          <p:cNvPr id="13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1316" y="3610189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8516" y="3610189"/>
            <a:ext cx="43335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Medias muy por encima de medianas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28516" y="3930228"/>
            <a:ext cx="433359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Saldo SF del AAA: media $219.6k frente a mediana $117.9k. Pocos clientes grandes mueven los promedios.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00775" y="3354846"/>
            <a:ext cx="5175250" cy="1287921"/>
          </a:xfrm>
          <a:prstGeom prst="roundRect">
            <a:avLst>
              <a:gd name="adj" fmla="val 5670"/>
            </a:avLst>
          </a:prstGeom>
          <a:solidFill>
            <a:srgbClr val="FDFDFB"/>
          </a:solidFill>
          <a:ln w="6350">
            <a:solidFill>
              <a:srgbClr val="D3D9E1"/>
            </a:solidFill>
            <a:prstDash val="solid"/>
          </a:ln>
        </p:spPr>
      </p:sp>
      <p:pic>
        <p:nvPicPr>
          <p:cNvPr id="17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6116" y="3610189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13316" y="3610189"/>
            <a:ext cx="43335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Grupos pequeños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13316" y="3930228"/>
            <a:ext cx="433359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AAA tiene pocos clientes. Validar el número por grupo y la cobertura de scoreBuro antes de concluir.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2"/>
            <a:ext cx="3269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Alto · AAA / AA / A · Corte 202608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236925" y="6238242"/>
            <a:ext cx="1422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E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buró no explica por sí solo su Perfil Alto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5175250" cy="2481721"/>
          </a:xfrm>
          <a:prstGeom prst="roundRect">
            <a:avLst>
              <a:gd name="adj" fmla="val 2943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316" y="2112718"/>
            <a:ext cx="48045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122" y="2483557"/>
            <a:ext cx="469808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tres grupos tienen buen buró: score alto, sin deuda vencida y mora corta en el SF.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AAA: más instituciones y montos, menos sobreendeudamiento y poca deuda en tarjeta.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A: más deuda y mora en Sicom y más peso de la tarjeta.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diferencian: antigüedad en buró, reportes ni uso de cupo (más de 40% en todos).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00775" y="1857375"/>
            <a:ext cx="5175250" cy="2481721"/>
          </a:xfrm>
          <a:prstGeom prst="roundRect">
            <a:avLst>
              <a:gd name="adj" fmla="val 2943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116" y="2112718"/>
            <a:ext cx="480450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4922" y="2483557"/>
            <a:ext cx="469808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Cruzar con tipoModelo, perfilRiesgoAnt y segmentoNewCliente para ver qué regla los lleva a Perfil Alto.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Aislar a los clientes A con mora Sicom mayor a 30 días.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Comparar con los AAA, AA y A de Perfil Bajo y Medio.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Evaluar la mora Sicom y el % de deuda en tarjeta como variables para la regla de perfil.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3269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Perfil Alto · AAA / AA / A · Corte 202608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36925" y="6238242"/>
            <a:ext cx="1422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il Alto – Características de buró AAA, AA, A">
  <a:themeElements>
    <a:clrScheme name="Perfil Alto – Características de buró AAA, AA, A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E8A33D"/>
      </a:accent1>
      <a:accent2>
        <a:srgbClr val="2F5EA8"/>
      </a:accent2>
      <a:accent3>
        <a:srgbClr val="3D4A5C"/>
      </a:accent3>
      <a:accent4>
        <a:srgbClr val="5A6474"/>
      </a:accent4>
      <a:accent5>
        <a:srgbClr val="C9D3E3"/>
      </a:accent5>
      <a:accent6>
        <a:srgbClr val="9AA6B8"/>
      </a:accent6>
      <a:hlink>
        <a:srgbClr val="0563C1"/>
      </a:hlink>
      <a:folHlink>
        <a:srgbClr val="954F72"/>
      </a:folHlink>
    </a:clrScheme>
    <a:fontScheme name="Perfil Alto – Características de buró AAA, AA, A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Perfil Alto – Características de buró AAA, AA, A</dc:title>
  <dc:subject/>
  <dc:creator/>
  <cp:lastModifiedBy/>
  <cp:revision>1</cp:revision>
  <dcterms:created xsi:type="dcterms:W3CDTF">2026-10-27T22:58:07Z</dcterms:created>
  <dcterms:modified xsi:type="dcterms:W3CDTF">2026-10-27T22:58:07Z</dcterms:modified>
</cp:coreProperties>
</file>