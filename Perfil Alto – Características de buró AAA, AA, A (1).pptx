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Distribución: AAA 15, AA 99, A 249 (363 clientes). Tabla: medianas de scoreBuro, scoreSobreendeudamiento, numInstDeudaSF, numOpeDeudaSF, numTdcBuro y porcCupoUtilizadoTdcBuro; la fila de saldo compara avgSaldoSFU3M con avgSaldoSFU12M en mediana. Medias de avgPorcDeudaEnTdcBuroU12M, maxMoraSFU12M, maxMoraSicomU12M y montoOriginalSicom. La mora Sicom del A tiene mediana 0: viene de pocos clientes; conviene aislar los A con maxMoraSicomU12M mayor a 30 días. El AAA tiene solo 15 clientes: leer sus cifras con cautela.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711200" y="873760"/>
            <a:ext cx="107696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711200" y="1569720"/>
            <a:ext cx="10668000" cy="447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711200" y="873760"/>
            <a:ext cx="107696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711200" y="1569720"/>
            <a:ext cx="10668000" cy="447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609600"/>
            <a:ext cx="110926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E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RIESGO DE CRÉDITO · PERFIL ALTO · CORTE 202608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11200" y="873760"/>
            <a:ext cx="1109268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Perfil Alto: qué tienen en buró los AAA, AA y 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1200" y="1518920"/>
            <a:ext cx="23545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Distribución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1200" y="1859280"/>
            <a:ext cx="372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3036" y="1859280"/>
            <a:ext cx="8041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· 4.1%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1200" y="2123440"/>
            <a:ext cx="139700" cy="177800"/>
          </a:xfrm>
          <a:custGeom>
            <a:avLst/>
            <a:gdLst/>
            <a:ahLst/>
            <a:cxnLst/>
            <a:rect l="l" t="t" r="r" b="b"/>
            <a:pathLst>
              <a:path w="139700" h="177800">
                <a:moveTo>
                  <a:pt x="0" y="0"/>
                </a:moveTo>
                <a:lnTo>
                  <a:pt x="101600" y="0"/>
                </a:lnTo>
                <a:arcTo hR="38100" wR="38100" stAng="16200000" swAng="5400000"/>
                <a:lnTo>
                  <a:pt x="139700" y="139700"/>
                </a:lnTo>
                <a:arcTo hR="38100" wR="38100" stAng="0" swAng="5400000"/>
                <a:lnTo>
                  <a:pt x="0" y="177800"/>
                </a:lnTo>
                <a:lnTo>
                  <a:pt x="0" y="0"/>
                </a:lnTo>
                <a:close/>
              </a:path>
            </a:pathLst>
          </a:cu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711200" y="2428240"/>
            <a:ext cx="2573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83308" y="2428240"/>
            <a:ext cx="9138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 · 27.3%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1200" y="2692400"/>
            <a:ext cx="908050" cy="177800"/>
          </a:xfrm>
          <a:custGeom>
            <a:avLst/>
            <a:gdLst/>
            <a:ahLst/>
            <a:cxnLst/>
            <a:rect l="l" t="t" r="r" b="b"/>
            <a:pathLst>
              <a:path w="908050" h="177800">
                <a:moveTo>
                  <a:pt x="0" y="0"/>
                </a:moveTo>
                <a:lnTo>
                  <a:pt x="869950" y="0"/>
                </a:lnTo>
                <a:arcTo hR="38100" wR="38100" stAng="16200000" swAng="5400000"/>
                <a:lnTo>
                  <a:pt x="908050" y="139700"/>
                </a:lnTo>
                <a:arcTo hR="38100" wR="38100" stAng="0" swAng="5400000"/>
                <a:lnTo>
                  <a:pt x="0" y="177800"/>
                </a:lnTo>
                <a:lnTo>
                  <a:pt x="0" y="0"/>
                </a:lnTo>
                <a:close/>
              </a:path>
            </a:pathLst>
          </a:custGeom>
          <a:solidFill>
            <a:srgbClr val="5B8BC9"/>
          </a:solidFill>
          <a:ln/>
        </p:spPr>
      </p:sp>
      <p:sp>
        <p:nvSpPr>
          <p:cNvPr id="11" name="Text 9"/>
          <p:cNvSpPr/>
          <p:nvPr/>
        </p:nvSpPr>
        <p:spPr>
          <a:xfrm>
            <a:off x="711200" y="2997200"/>
            <a:ext cx="1532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73580" y="2997200"/>
            <a:ext cx="10236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249 · 68.6%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1200" y="3261360"/>
            <a:ext cx="2286000" cy="177800"/>
          </a:xfrm>
          <a:custGeom>
            <a:avLst/>
            <a:gdLst/>
            <a:ahLst/>
            <a:cxnLst/>
            <a:rect l="l" t="t" r="r" b="b"/>
            <a:pathLst>
              <a:path w="2286000" h="177800">
                <a:moveTo>
                  <a:pt x="0" y="0"/>
                </a:moveTo>
                <a:lnTo>
                  <a:pt x="2247900" y="0"/>
                </a:lnTo>
                <a:arcTo hR="38100" wR="38100" stAng="16200000" swAng="5400000"/>
                <a:lnTo>
                  <a:pt x="2286000" y="139700"/>
                </a:lnTo>
                <a:arcTo hR="38100" wR="38100" stAng="0" swAng="5400000"/>
                <a:lnTo>
                  <a:pt x="0" y="177800"/>
                </a:lnTo>
                <a:lnTo>
                  <a:pt x="0" y="0"/>
                </a:lnTo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11200" y="3566160"/>
            <a:ext cx="235458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363 clientes</a:t>
            </a: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Perfil Alto con buró y clasificación AAA, AA o A. El grueso de Perfil Alto está en 6. SIN INFORMACION.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1200" y="5057140"/>
            <a:ext cx="2286000" cy="1191260"/>
          </a:xfrm>
          <a:prstGeom prst="roundRect">
            <a:avLst>
              <a:gd name="adj" fmla="val 6397"/>
            </a:avLst>
          </a:prstGeom>
          <a:solidFill>
            <a:srgbClr val="ECEFF3"/>
          </a:solidFill>
          <a:ln/>
        </p:spPr>
      </p:sp>
      <p:sp>
        <p:nvSpPr>
          <p:cNvPr id="16" name="Text 14"/>
          <p:cNvSpPr/>
          <p:nvPr/>
        </p:nvSpPr>
        <p:spPr>
          <a:xfrm>
            <a:off x="863600" y="5209540"/>
            <a:ext cx="204063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diferencian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3600" y="5455920"/>
            <a:ext cx="204063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Antigüedad en buró (~140 meses), reportes (12 de 12) y deuda vencida (0).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11689" y="1530209"/>
          <a:ext cx="5068711" cy="3975947"/>
        </p:xfrm>
        <a:graphic>
          <a:graphicData uri="http://schemas.openxmlformats.org/drawingml/2006/table">
            <a:tbl>
              <a:tblPr/>
              <a:tblGrid>
                <a:gridCol w="2457557"/>
                <a:gridCol w="870385"/>
                <a:gridCol w="870385"/>
                <a:gridCol w="870385"/>
              </a:tblGrid>
              <a:tr h="33132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Variable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3132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scoreBuro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971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941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894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32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Sobreendeudamiento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724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622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532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32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Instituciones con deuda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32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Operaciones con deuda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32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Saldo SF: 3M vs. 12M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+10%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+17%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32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N.º de TDC en buró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</a:tr>
              <a:tr h="33132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% cupo utilizado TDC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43%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62%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56%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</a:tr>
              <a:tr h="33132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% deuda en TDC (12M)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31%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</a:tr>
              <a:tr h="33132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Mora máx. SF 12M (días)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9.2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  <a:tr h="33132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Mora Sicom 12M (días)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  <a:tr h="33132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Monto original Sicom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$546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$5,639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$8,625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3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200400" y="5607756"/>
            <a:ext cx="52324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Blanco: score y sistema financiero · Azul: tarjetas · Naranja: mora y Sicom. Medianas, salvo % deuda TDC, mora y monto Sicom (medias).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486775" y="1522095"/>
            <a:ext cx="2990850" cy="2354721"/>
          </a:xfrm>
          <a:prstGeom prst="roundRect">
            <a:avLst>
              <a:gd name="adj" fmla="val 3101"/>
            </a:avLst>
          </a:prstGeom>
          <a:solidFill>
            <a:srgbClr val="FDFDFB"/>
          </a:solidFill>
          <a:ln w="6350">
            <a:solidFill>
              <a:srgbClr val="DDE1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65916" y="1701236"/>
            <a:ext cx="27115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Lectura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764722" y="1990796"/>
            <a:ext cx="2605120" cy="1732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Buen buró en los tres: score alto y mora SF corta.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AAA: más relación con el SF y poca deuda en tarjeta.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A: deuda y mora en Sicom, concentrada en pocos clientes.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AA: mayor uso de cupo y saldo SF creciendo +17%.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483600" y="4032391"/>
            <a:ext cx="2997200" cy="1285240"/>
          </a:xfrm>
          <a:prstGeom prst="roundRect">
            <a:avLst>
              <a:gd name="adj" fmla="val 5929"/>
            </a:avLst>
          </a:prstGeom>
          <a:solidFill>
            <a:srgbClr val="14213D"/>
          </a:solidFill>
          <a:ln/>
        </p:spPr>
      </p:sp>
      <p:sp>
        <p:nvSpPr>
          <p:cNvPr id="24" name="Text 21"/>
          <p:cNvSpPr/>
          <p:nvPr/>
        </p:nvSpPr>
        <p:spPr>
          <a:xfrm>
            <a:off x="8661400" y="4210191"/>
            <a:ext cx="27208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661400" y="4499751"/>
            <a:ext cx="272084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buró no explica por sí solo su Perfil Alto. Siguiente paso: cruzar con tipoModelo y perfilRiesgoAnt.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fil Alto – Características de buró AAA, AA, A">
  <a:themeElements>
    <a:clrScheme name="Perfil Alto – Características de buró AAA, AA, A">
      <a:dk1>
        <a:srgbClr val="14213D"/>
      </a:dk1>
      <a:lt1>
        <a:srgbClr val="F7F6F2"/>
      </a:lt1>
      <a:dk2>
        <a:srgbClr val="4D566A"/>
      </a:dk2>
      <a:lt2>
        <a:srgbClr val="E0E1E0"/>
      </a:lt2>
      <a:accent1>
        <a:srgbClr val="E8A33D"/>
      </a:accent1>
      <a:accent2>
        <a:srgbClr val="1B3A6B"/>
      </a:accent2>
      <a:accent3>
        <a:srgbClr val="5B8BC9"/>
      </a:accent3>
      <a:accent4>
        <a:srgbClr val="2F5EA8"/>
      </a:accent4>
      <a:accent5>
        <a:srgbClr val="3D4A5C"/>
      </a:accent5>
      <a:accent6>
        <a:srgbClr val="5A6474"/>
      </a:accent6>
      <a:hlink>
        <a:srgbClr val="0563C1"/>
      </a:hlink>
      <a:folHlink>
        <a:srgbClr val="954F72"/>
      </a:folHlink>
    </a:clrScheme>
    <a:fontScheme name="Perfil Alto – Características de buró AAA, AA, A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Perfil Alto – Características de buró AAA, AA, A</dc:title>
  <dc:subject/>
  <dc:creator/>
  <cp:lastModifiedBy/>
  <cp:revision>1</cp:revision>
  <dcterms:created xsi:type="dcterms:W3CDTF">2026-10-28T03:50:58Z</dcterms:created>
  <dcterms:modified xsi:type="dcterms:W3CDTF">2026-10-28T03:50:58Z</dcterms:modified>
</cp:coreProperties>
</file>